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2" r:id="rId7"/>
    <p:sldId id="263" r:id="rId8"/>
    <p:sldId id="265" r:id="rId9"/>
    <p:sldId id="264" r:id="rId10"/>
  </p:sldIdLst>
  <p:sldSz cx="18288000" cy="10287000"/>
  <p:notesSz cx="6858000" cy="9144000"/>
  <p:embeddedFontLst>
    <p:embeddedFont>
      <p:font typeface="Bicubik" panose="02000503020000020004" charset="0"/>
      <p:regular r:id="rId11"/>
    </p:embeddedFont>
    <p:embeddedFont>
      <p:font typeface="Garet" panose="020B0604020202020204" charset="0"/>
      <p:regular r:id="rId12"/>
    </p:embeddedFont>
    <p:embeddedFont>
      <p:font typeface="Open Sans" panose="020B0606030504020204" pitchFamily="3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5" autoAdjust="0"/>
    <p:restoredTop sz="94622" autoAdjust="0"/>
  </p:normalViewPr>
  <p:slideViewPr>
    <p:cSldViewPr>
      <p:cViewPr varScale="1">
        <p:scale>
          <a:sx n="24" d="100"/>
          <a:sy n="24" d="100"/>
        </p:scale>
        <p:origin x="1128"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521"/>
        </a:solidFill>
        <a:effectLst/>
      </p:bgPr>
    </p:bg>
    <p:spTree>
      <p:nvGrpSpPr>
        <p:cNvPr id="1" name=""/>
        <p:cNvGrpSpPr/>
        <p:nvPr/>
      </p:nvGrpSpPr>
      <p:grpSpPr>
        <a:xfrm>
          <a:off x="0" y="0"/>
          <a:ext cx="0" cy="0"/>
          <a:chOff x="0" y="0"/>
          <a:chExt cx="0" cy="0"/>
        </a:xfrm>
      </p:grpSpPr>
      <p:grpSp>
        <p:nvGrpSpPr>
          <p:cNvPr id="2" name="Group 2"/>
          <p:cNvGrpSpPr/>
          <p:nvPr/>
        </p:nvGrpSpPr>
        <p:grpSpPr>
          <a:xfrm>
            <a:off x="17293116" y="657737"/>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E009B">
                    <a:alpha val="100000"/>
                  </a:srgbClr>
                </a:gs>
                <a:gs pos="100000">
                  <a:srgbClr val="EB00FF">
                    <a:alpha val="100000"/>
                  </a:srgbClr>
                </a:gs>
              </a:gsLst>
              <a:lin ang="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5400000">
            <a:off x="8912009" y="4326276"/>
            <a:ext cx="463982" cy="4760457"/>
          </a:xfrm>
          <a:custGeom>
            <a:avLst/>
            <a:gdLst/>
            <a:ahLst/>
            <a:cxnLst/>
            <a:rect l="l" t="t" r="r" b="b"/>
            <a:pathLst>
              <a:path w="463982" h="4760457">
                <a:moveTo>
                  <a:pt x="0" y="0"/>
                </a:moveTo>
                <a:lnTo>
                  <a:pt x="463982" y="0"/>
                </a:lnTo>
                <a:lnTo>
                  <a:pt x="463982" y="4760458"/>
                </a:lnTo>
                <a:lnTo>
                  <a:pt x="0" y="476045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631333" y="2964064"/>
            <a:ext cx="16661782" cy="2619270"/>
          </a:xfrm>
          <a:prstGeom prst="rect">
            <a:avLst/>
          </a:prstGeom>
        </p:spPr>
        <p:txBody>
          <a:bodyPr lIns="0" tIns="0" rIns="0" bIns="0" rtlCol="0" anchor="t">
            <a:spAutoFit/>
          </a:bodyPr>
          <a:lstStyle/>
          <a:p>
            <a:pPr algn="ctr">
              <a:lnSpc>
                <a:spcPts val="10505"/>
              </a:lnSpc>
              <a:spcBef>
                <a:spcPct val="0"/>
              </a:spcBef>
            </a:pPr>
            <a:r>
              <a:rPr lang="en-US" sz="7504" dirty="0">
                <a:solidFill>
                  <a:srgbClr val="FFFFFF"/>
                </a:solidFill>
                <a:latin typeface="Garet"/>
                <a:ea typeface="Garet"/>
                <a:cs typeface="Garet"/>
                <a:sym typeface="Garet"/>
              </a:rPr>
              <a:t>SKILLFORGE AI DRIVEN ADAPTIVE LEARNING AND EXAM GENERATOR</a:t>
            </a:r>
          </a:p>
        </p:txBody>
      </p:sp>
      <p:grpSp>
        <p:nvGrpSpPr>
          <p:cNvPr id="7" name="Group 7"/>
          <p:cNvGrpSpPr/>
          <p:nvPr/>
        </p:nvGrpSpPr>
        <p:grpSpPr>
          <a:xfrm>
            <a:off x="18144623" y="8078534"/>
            <a:ext cx="143377" cy="1179766"/>
            <a:chOff x="0" y="0"/>
            <a:chExt cx="46272" cy="380749"/>
          </a:xfrm>
        </p:grpSpPr>
        <p:sp>
          <p:nvSpPr>
            <p:cNvPr id="8" name="Freeform 8"/>
            <p:cNvSpPr/>
            <p:nvPr/>
          </p:nvSpPr>
          <p:spPr>
            <a:xfrm>
              <a:off x="0" y="0"/>
              <a:ext cx="46272" cy="380749"/>
            </a:xfrm>
            <a:custGeom>
              <a:avLst/>
              <a:gdLst/>
              <a:ahLst/>
              <a:cxnLst/>
              <a:rect l="l" t="t" r="r" b="b"/>
              <a:pathLst>
                <a:path w="46272" h="380749">
                  <a:moveTo>
                    <a:pt x="0" y="0"/>
                  </a:moveTo>
                  <a:lnTo>
                    <a:pt x="46272" y="0"/>
                  </a:lnTo>
                  <a:lnTo>
                    <a:pt x="46272" y="380749"/>
                  </a:lnTo>
                  <a:lnTo>
                    <a:pt x="0" y="380749"/>
                  </a:lnTo>
                  <a:close/>
                </a:path>
              </a:pathLst>
            </a:custGeom>
            <a:gradFill rotWithShape="1">
              <a:gsLst>
                <a:gs pos="0">
                  <a:srgbClr val="6E009B">
                    <a:alpha val="100000"/>
                  </a:srgbClr>
                </a:gs>
                <a:gs pos="100000">
                  <a:srgbClr val="EB00FF">
                    <a:alpha val="100000"/>
                  </a:srgbClr>
                </a:gs>
              </a:gsLst>
              <a:lin ang="2700000"/>
            </a:gradFill>
          </p:spPr>
        </p:sp>
        <p:sp>
          <p:nvSpPr>
            <p:cNvPr id="9" name="TextBox 9"/>
            <p:cNvSpPr txBox="1"/>
            <p:nvPr/>
          </p:nvSpPr>
          <p:spPr>
            <a:xfrm>
              <a:off x="0" y="-38100"/>
              <a:ext cx="46272" cy="418849"/>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703" b="-1703"/>
            </a:stretch>
          </a:blipFill>
        </p:spPr>
      </p:sp>
      <p:grpSp>
        <p:nvGrpSpPr>
          <p:cNvPr id="3" name="Group 3"/>
          <p:cNvGrpSpPr/>
          <p:nvPr/>
        </p:nvGrpSpPr>
        <p:grpSpPr>
          <a:xfrm>
            <a:off x="17293116" y="565634"/>
            <a:ext cx="397367" cy="28996"/>
            <a:chOff x="0" y="0"/>
            <a:chExt cx="128243" cy="9358"/>
          </a:xfrm>
        </p:grpSpPr>
        <p:sp>
          <p:nvSpPr>
            <p:cNvPr id="4" name="Freeform 4"/>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E009B">
                    <a:alpha val="100000"/>
                  </a:srgbClr>
                </a:gs>
                <a:gs pos="100000">
                  <a:srgbClr val="EB00FF">
                    <a:alpha val="100000"/>
                  </a:srgbClr>
                </a:gs>
              </a:gsLst>
              <a:lin ang="0"/>
            </a:gradFill>
          </p:spPr>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93116" y="657737"/>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E009B">
                    <a:alpha val="100000"/>
                  </a:srgbClr>
                </a:gs>
                <a:gs pos="100000">
                  <a:srgbClr val="EB00FF">
                    <a:alpha val="100000"/>
                  </a:srgbClr>
                </a:gs>
              </a:gsLst>
              <a:lin ang="0"/>
            </a:gra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8144623" y="8078534"/>
            <a:ext cx="143377" cy="1179766"/>
            <a:chOff x="0" y="0"/>
            <a:chExt cx="46272" cy="380749"/>
          </a:xfrm>
        </p:grpSpPr>
        <p:sp>
          <p:nvSpPr>
            <p:cNvPr id="10" name="Freeform 10"/>
            <p:cNvSpPr/>
            <p:nvPr/>
          </p:nvSpPr>
          <p:spPr>
            <a:xfrm>
              <a:off x="0" y="0"/>
              <a:ext cx="46272" cy="380749"/>
            </a:xfrm>
            <a:custGeom>
              <a:avLst/>
              <a:gdLst/>
              <a:ahLst/>
              <a:cxnLst/>
              <a:rect l="l" t="t" r="r" b="b"/>
              <a:pathLst>
                <a:path w="46272" h="380749">
                  <a:moveTo>
                    <a:pt x="0" y="0"/>
                  </a:moveTo>
                  <a:lnTo>
                    <a:pt x="46272" y="0"/>
                  </a:lnTo>
                  <a:lnTo>
                    <a:pt x="46272" y="380749"/>
                  </a:lnTo>
                  <a:lnTo>
                    <a:pt x="0" y="380749"/>
                  </a:lnTo>
                  <a:close/>
                </a:path>
              </a:pathLst>
            </a:custGeom>
            <a:gradFill rotWithShape="1">
              <a:gsLst>
                <a:gs pos="0">
                  <a:srgbClr val="6E009B">
                    <a:alpha val="100000"/>
                  </a:srgbClr>
                </a:gs>
                <a:gs pos="100000">
                  <a:srgbClr val="EB00FF">
                    <a:alpha val="100000"/>
                  </a:srgbClr>
                </a:gs>
              </a:gsLst>
              <a:lin ang="2700000"/>
            </a:gradFill>
          </p:spPr>
        </p:sp>
        <p:sp>
          <p:nvSpPr>
            <p:cNvPr id="11" name="TextBox 11"/>
            <p:cNvSpPr txBox="1"/>
            <p:nvPr/>
          </p:nvSpPr>
          <p:spPr>
            <a:xfrm>
              <a:off x="0" y="-38100"/>
              <a:ext cx="46272" cy="418849"/>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994884" y="2082546"/>
            <a:ext cx="16264416" cy="6585871"/>
            <a:chOff x="0" y="0"/>
            <a:chExt cx="2327322" cy="942391"/>
          </a:xfrm>
        </p:grpSpPr>
        <p:sp>
          <p:nvSpPr>
            <p:cNvPr id="13" name="Freeform 13"/>
            <p:cNvSpPr/>
            <p:nvPr/>
          </p:nvSpPr>
          <p:spPr>
            <a:xfrm>
              <a:off x="0" y="0"/>
              <a:ext cx="2327322" cy="942391"/>
            </a:xfrm>
            <a:custGeom>
              <a:avLst/>
              <a:gdLst/>
              <a:ahLst/>
              <a:cxnLst/>
              <a:rect l="l" t="t" r="r" b="b"/>
              <a:pathLst>
                <a:path w="2327322" h="942391">
                  <a:moveTo>
                    <a:pt x="0" y="0"/>
                  </a:moveTo>
                  <a:lnTo>
                    <a:pt x="2327322" y="0"/>
                  </a:lnTo>
                  <a:lnTo>
                    <a:pt x="2327322" y="942391"/>
                  </a:lnTo>
                  <a:lnTo>
                    <a:pt x="0" y="942391"/>
                  </a:lnTo>
                  <a:close/>
                </a:path>
              </a:pathLst>
            </a:custGeom>
            <a:gradFill rotWithShape="1">
              <a:gsLst>
                <a:gs pos="0">
                  <a:srgbClr val="6E009B">
                    <a:alpha val="100000"/>
                  </a:srgbClr>
                </a:gs>
                <a:gs pos="100000">
                  <a:srgbClr val="EB00FF">
                    <a:alpha val="100000"/>
                  </a:srgbClr>
                </a:gs>
              </a:gsLst>
              <a:lin ang="2700000"/>
            </a:gradFill>
          </p:spPr>
        </p:sp>
        <p:sp>
          <p:nvSpPr>
            <p:cNvPr id="14" name="TextBox 14"/>
            <p:cNvSpPr txBox="1"/>
            <p:nvPr/>
          </p:nvSpPr>
          <p:spPr>
            <a:xfrm>
              <a:off x="0" y="-38100"/>
              <a:ext cx="2327322" cy="980491"/>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4103397" y="461281"/>
            <a:ext cx="10081206" cy="1044046"/>
          </a:xfrm>
          <a:prstGeom prst="rect">
            <a:avLst/>
          </a:prstGeom>
        </p:spPr>
        <p:txBody>
          <a:bodyPr lIns="0" tIns="0" rIns="0" bIns="0" rtlCol="0" anchor="t">
            <a:spAutoFit/>
          </a:bodyPr>
          <a:lstStyle/>
          <a:p>
            <a:pPr algn="l">
              <a:lnSpc>
                <a:spcPts val="8371"/>
              </a:lnSpc>
              <a:spcBef>
                <a:spcPct val="0"/>
              </a:spcBef>
            </a:pPr>
            <a:r>
              <a:rPr lang="en-US" sz="5979" dirty="0">
                <a:solidFill>
                  <a:srgbClr val="FFFFFF"/>
                </a:solidFill>
                <a:latin typeface="Bicubik"/>
                <a:ea typeface="Bicubik"/>
                <a:cs typeface="Bicubik"/>
                <a:sym typeface="Bicubik"/>
              </a:rPr>
              <a:t>INTRODUCTION</a:t>
            </a:r>
          </a:p>
        </p:txBody>
      </p:sp>
      <p:sp>
        <p:nvSpPr>
          <p:cNvPr id="16" name="Freeform 16"/>
          <p:cNvSpPr/>
          <p:nvPr/>
        </p:nvSpPr>
        <p:spPr>
          <a:xfrm rot="-5400000">
            <a:off x="11020618" y="3248277"/>
            <a:ext cx="240808" cy="2470689"/>
          </a:xfrm>
          <a:custGeom>
            <a:avLst/>
            <a:gdLst/>
            <a:ahLst/>
            <a:cxnLst/>
            <a:rect l="l" t="t" r="r" b="b"/>
            <a:pathLst>
              <a:path w="240808" h="2470689">
                <a:moveTo>
                  <a:pt x="0" y="0"/>
                </a:moveTo>
                <a:lnTo>
                  <a:pt x="240808" y="0"/>
                </a:lnTo>
                <a:lnTo>
                  <a:pt x="240808" y="2470689"/>
                </a:lnTo>
                <a:lnTo>
                  <a:pt x="0" y="24706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7" name="TextBox 17"/>
          <p:cNvSpPr txBox="1"/>
          <p:nvPr/>
        </p:nvSpPr>
        <p:spPr>
          <a:xfrm>
            <a:off x="1281394" y="3557714"/>
            <a:ext cx="14695317" cy="3184972"/>
          </a:xfrm>
          <a:prstGeom prst="rect">
            <a:avLst/>
          </a:prstGeom>
        </p:spPr>
        <p:txBody>
          <a:bodyPr lIns="0" tIns="0" rIns="0" bIns="0" rtlCol="0" anchor="t">
            <a:spAutoFit/>
          </a:bodyPr>
          <a:lstStyle/>
          <a:p>
            <a:pPr marL="654951" lvl="1" indent="-327475" algn="l">
              <a:lnSpc>
                <a:spcPts val="4247"/>
              </a:lnSpc>
              <a:buFont typeface="Arial"/>
              <a:buChar char="•"/>
            </a:pPr>
            <a:r>
              <a:rPr lang="en-US" sz="3033">
                <a:solidFill>
                  <a:srgbClr val="FFFFFF"/>
                </a:solidFill>
                <a:latin typeface="Open Sans"/>
                <a:ea typeface="Open Sans"/>
                <a:cs typeface="Open Sans"/>
                <a:sym typeface="Open Sans"/>
              </a:rPr>
              <a:t>SkillForge focuses on personalized learning, adaptive assessments, and continuous skill improvement using AI.</a:t>
            </a:r>
          </a:p>
          <a:p>
            <a:pPr marL="654951" lvl="1" indent="-327475" algn="l">
              <a:lnSpc>
                <a:spcPts val="4247"/>
              </a:lnSpc>
              <a:buFont typeface="Arial"/>
              <a:buChar char="•"/>
            </a:pPr>
            <a:r>
              <a:rPr lang="en-US" sz="3033">
                <a:solidFill>
                  <a:srgbClr val="FFFFFF"/>
                </a:solidFill>
                <a:latin typeface="Open Sans"/>
                <a:ea typeface="Open Sans"/>
                <a:cs typeface="Open Sans"/>
                <a:sym typeface="Open Sans"/>
              </a:rPr>
              <a:t>SkillForge can be used in education institutes, corporate training, placement preparation, and online learning platforms to provide personalized and adaptive learning</a:t>
            </a:r>
          </a:p>
          <a:p>
            <a:pPr algn="l">
              <a:lnSpc>
                <a:spcPts val="4247"/>
              </a:lnSpc>
              <a:spcBef>
                <a:spcPct val="0"/>
              </a:spcBef>
            </a:pPr>
            <a:endParaRPr lang="en-US" sz="3033">
              <a:solidFill>
                <a:srgbClr val="FFFFFF"/>
              </a:solidFill>
              <a:latin typeface="Open Sans"/>
              <a:ea typeface="Open Sans"/>
              <a:cs typeface="Open Sans"/>
              <a:sym typeface="Open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703" b="-1703"/>
            </a:stretch>
          </a:blipFill>
        </p:spPr>
      </p:sp>
      <p:grpSp>
        <p:nvGrpSpPr>
          <p:cNvPr id="6" name="Group 6"/>
          <p:cNvGrpSpPr/>
          <p:nvPr/>
        </p:nvGrpSpPr>
        <p:grpSpPr>
          <a:xfrm>
            <a:off x="17293116" y="657737"/>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E009B">
                    <a:alpha val="100000"/>
                  </a:srgbClr>
                </a:gs>
                <a:gs pos="100000">
                  <a:srgbClr val="EB00FF">
                    <a:alpha val="100000"/>
                  </a:srgbClr>
                </a:gs>
              </a:gsLst>
              <a:lin ang="0"/>
            </a:gra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8144623" y="8078534"/>
            <a:ext cx="143377" cy="1179766"/>
            <a:chOff x="0" y="0"/>
            <a:chExt cx="46272" cy="380749"/>
          </a:xfrm>
        </p:grpSpPr>
        <p:sp>
          <p:nvSpPr>
            <p:cNvPr id="10" name="Freeform 10"/>
            <p:cNvSpPr/>
            <p:nvPr/>
          </p:nvSpPr>
          <p:spPr>
            <a:xfrm>
              <a:off x="0" y="0"/>
              <a:ext cx="46272" cy="380749"/>
            </a:xfrm>
            <a:custGeom>
              <a:avLst/>
              <a:gdLst/>
              <a:ahLst/>
              <a:cxnLst/>
              <a:rect l="l" t="t" r="r" b="b"/>
              <a:pathLst>
                <a:path w="46272" h="380749">
                  <a:moveTo>
                    <a:pt x="0" y="0"/>
                  </a:moveTo>
                  <a:lnTo>
                    <a:pt x="46272" y="0"/>
                  </a:lnTo>
                  <a:lnTo>
                    <a:pt x="46272" y="380749"/>
                  </a:lnTo>
                  <a:lnTo>
                    <a:pt x="0" y="380749"/>
                  </a:lnTo>
                  <a:close/>
                </a:path>
              </a:pathLst>
            </a:custGeom>
            <a:gradFill rotWithShape="1">
              <a:gsLst>
                <a:gs pos="0">
                  <a:srgbClr val="6E009B">
                    <a:alpha val="100000"/>
                  </a:srgbClr>
                </a:gs>
                <a:gs pos="100000">
                  <a:srgbClr val="EB00FF">
                    <a:alpha val="100000"/>
                  </a:srgbClr>
                </a:gs>
              </a:gsLst>
              <a:lin ang="2700000"/>
            </a:gradFill>
          </p:spPr>
        </p:sp>
        <p:sp>
          <p:nvSpPr>
            <p:cNvPr id="11" name="TextBox 11"/>
            <p:cNvSpPr txBox="1"/>
            <p:nvPr/>
          </p:nvSpPr>
          <p:spPr>
            <a:xfrm>
              <a:off x="0" y="-38100"/>
              <a:ext cx="46272" cy="418849"/>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0" y="0"/>
            <a:ext cx="3507098" cy="3661395"/>
          </a:xfrm>
          <a:custGeom>
            <a:avLst/>
            <a:gdLst/>
            <a:ahLst/>
            <a:cxnLst/>
            <a:rect l="l" t="t" r="r" b="b"/>
            <a:pathLst>
              <a:path w="3858911" h="3661395">
                <a:moveTo>
                  <a:pt x="0" y="0"/>
                </a:moveTo>
                <a:lnTo>
                  <a:pt x="3858911" y="0"/>
                </a:lnTo>
                <a:lnTo>
                  <a:pt x="3858911" y="3661395"/>
                </a:lnTo>
                <a:lnTo>
                  <a:pt x="0" y="3661395"/>
                </a:lnTo>
                <a:lnTo>
                  <a:pt x="0" y="0"/>
                </a:lnTo>
                <a:close/>
              </a:path>
            </a:pathLst>
          </a:custGeom>
          <a:blipFill>
            <a:blip r:embed="rId3"/>
            <a:stretch>
              <a:fillRect t="-2697" b="-2697"/>
            </a:stretch>
          </a:blipFill>
        </p:spPr>
      </p:sp>
      <p:sp>
        <p:nvSpPr>
          <p:cNvPr id="13" name="TextBox 13"/>
          <p:cNvSpPr txBox="1"/>
          <p:nvPr/>
        </p:nvSpPr>
        <p:spPr>
          <a:xfrm>
            <a:off x="4063906" y="1687823"/>
            <a:ext cx="11801063" cy="1106228"/>
          </a:xfrm>
          <a:prstGeom prst="rect">
            <a:avLst/>
          </a:prstGeom>
        </p:spPr>
        <p:txBody>
          <a:bodyPr lIns="0" tIns="0" rIns="0" bIns="0" rtlCol="0" anchor="t">
            <a:spAutoFit/>
          </a:bodyPr>
          <a:lstStyle/>
          <a:p>
            <a:pPr algn="l">
              <a:lnSpc>
                <a:spcPts val="8855"/>
              </a:lnSpc>
              <a:spcBef>
                <a:spcPct val="0"/>
              </a:spcBef>
            </a:pPr>
            <a:r>
              <a:rPr lang="en-US" sz="6325" dirty="0">
                <a:solidFill>
                  <a:srgbClr val="FFFFFF"/>
                </a:solidFill>
                <a:latin typeface="Bicubik"/>
                <a:ea typeface="Bicubik"/>
                <a:cs typeface="Bicubik"/>
                <a:sym typeface="Bicubik"/>
              </a:rPr>
              <a:t>PROBLEM STATEMENT</a:t>
            </a:r>
          </a:p>
        </p:txBody>
      </p:sp>
      <p:sp>
        <p:nvSpPr>
          <p:cNvPr id="14" name="TextBox 14"/>
          <p:cNvSpPr txBox="1"/>
          <p:nvPr/>
        </p:nvSpPr>
        <p:spPr>
          <a:xfrm>
            <a:off x="678621" y="4278335"/>
            <a:ext cx="16930757" cy="4173186"/>
          </a:xfrm>
          <a:prstGeom prst="rect">
            <a:avLst/>
          </a:prstGeom>
        </p:spPr>
        <p:txBody>
          <a:bodyPr lIns="0" tIns="0" rIns="0" bIns="0" rtlCol="0" anchor="t">
            <a:spAutoFit/>
          </a:bodyPr>
          <a:lstStyle/>
          <a:p>
            <a:pPr algn="l">
              <a:lnSpc>
                <a:spcPts val="3364"/>
              </a:lnSpc>
            </a:pPr>
            <a:r>
              <a:rPr lang="en-US" sz="2402">
                <a:solidFill>
                  <a:srgbClr val="FFFFFF"/>
                </a:solidFill>
                <a:latin typeface="Open Sans"/>
                <a:ea typeface="Open Sans"/>
                <a:cs typeface="Open Sans"/>
                <a:sym typeface="Open Sans"/>
              </a:rPr>
              <a:t>In today’s education system, most online learning platforms provide the same content and exams to all students. They do not consider individual learning speed, strengths, or weaknesses. Because of this, some students struggle to understand concepts, while others feel the content is too easy.</a:t>
            </a:r>
          </a:p>
          <a:p>
            <a:pPr algn="l">
              <a:lnSpc>
                <a:spcPts val="3364"/>
              </a:lnSpc>
            </a:pPr>
            <a:r>
              <a:rPr lang="en-US" sz="2402">
                <a:solidFill>
                  <a:srgbClr val="FFFFFF"/>
                </a:solidFill>
                <a:latin typeface="Open Sans"/>
                <a:ea typeface="Open Sans"/>
                <a:cs typeface="Open Sans"/>
                <a:sym typeface="Open Sans"/>
              </a:rPr>
              <a:t>There is a lack of personalized learning and smart exam generation systems that can adapt to each student’s performance.</a:t>
            </a:r>
          </a:p>
          <a:p>
            <a:pPr algn="l">
              <a:lnSpc>
                <a:spcPts val="3364"/>
              </a:lnSpc>
            </a:pPr>
            <a:r>
              <a:rPr lang="en-US" sz="2402">
                <a:solidFill>
                  <a:srgbClr val="FFFFFF"/>
                </a:solidFill>
                <a:latin typeface="Open Sans"/>
                <a:ea typeface="Open Sans"/>
                <a:cs typeface="Open Sans"/>
                <a:sym typeface="Open Sans"/>
              </a:rPr>
              <a:t>SkillForge is designed to solve this problem. It uses Artificial Intelligence to analyze student performance, identify weak areas, adjust difficulty levels, and generate personalized exams. The system also provides performance reports and recommendations to help students improve continuously.</a:t>
            </a:r>
          </a:p>
          <a:p>
            <a:pPr algn="l">
              <a:lnSpc>
                <a:spcPts val="3364"/>
              </a:lnSpc>
              <a:spcBef>
                <a:spcPct val="0"/>
              </a:spcBef>
            </a:pPr>
            <a:r>
              <a:rPr lang="en-US" sz="2402">
                <a:solidFill>
                  <a:srgbClr val="FFFFFF"/>
                </a:solidFill>
                <a:latin typeface="Open Sans"/>
                <a:ea typeface="Open Sans"/>
                <a:cs typeface="Open Sans"/>
                <a:sym typeface="Open Sans"/>
              </a:rPr>
              <a:t>The main objective of this project is to create an intelligent, adaptive learning system that improves student understanding, confidence, and exam performance.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0521"/>
        </a:soli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E009B">
                    <a:alpha val="100000"/>
                  </a:srgbClr>
                </a:gs>
                <a:gs pos="100000">
                  <a:srgbClr val="EB00FF">
                    <a:alpha val="100000"/>
                  </a:srgbClr>
                </a:gs>
              </a:gsLst>
              <a:lin ang="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E009B">
                    <a:alpha val="100000"/>
                  </a:srgbClr>
                </a:gs>
                <a:gs pos="100000">
                  <a:srgbClr val="EB00FF">
                    <a:alpha val="100000"/>
                  </a:srgbClr>
                </a:gs>
              </a:gsLst>
              <a:lin ang="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8144623" y="8078534"/>
            <a:ext cx="143377" cy="1179766"/>
            <a:chOff x="0" y="0"/>
            <a:chExt cx="46272" cy="380749"/>
          </a:xfrm>
        </p:grpSpPr>
        <p:sp>
          <p:nvSpPr>
            <p:cNvPr id="9" name="Freeform 9"/>
            <p:cNvSpPr/>
            <p:nvPr/>
          </p:nvSpPr>
          <p:spPr>
            <a:xfrm>
              <a:off x="0" y="0"/>
              <a:ext cx="46272" cy="380749"/>
            </a:xfrm>
            <a:custGeom>
              <a:avLst/>
              <a:gdLst/>
              <a:ahLst/>
              <a:cxnLst/>
              <a:rect l="l" t="t" r="r" b="b"/>
              <a:pathLst>
                <a:path w="46272" h="380749">
                  <a:moveTo>
                    <a:pt x="0" y="0"/>
                  </a:moveTo>
                  <a:lnTo>
                    <a:pt x="46272" y="0"/>
                  </a:lnTo>
                  <a:lnTo>
                    <a:pt x="46272" y="380749"/>
                  </a:lnTo>
                  <a:lnTo>
                    <a:pt x="0" y="380749"/>
                  </a:lnTo>
                  <a:close/>
                </a:path>
              </a:pathLst>
            </a:custGeom>
            <a:gradFill rotWithShape="1">
              <a:gsLst>
                <a:gs pos="0">
                  <a:srgbClr val="6E009B">
                    <a:alpha val="100000"/>
                  </a:srgbClr>
                </a:gs>
                <a:gs pos="100000">
                  <a:srgbClr val="EB00FF">
                    <a:alpha val="100000"/>
                  </a:srgbClr>
                </a:gs>
              </a:gsLst>
              <a:lin ang="2700000"/>
            </a:gradFill>
          </p:spPr>
        </p:sp>
        <p:sp>
          <p:nvSpPr>
            <p:cNvPr id="10" name="TextBox 10"/>
            <p:cNvSpPr txBox="1"/>
            <p:nvPr/>
          </p:nvSpPr>
          <p:spPr>
            <a:xfrm>
              <a:off x="0" y="-38100"/>
              <a:ext cx="46272" cy="418849"/>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2438400" y="1700890"/>
            <a:ext cx="13563599" cy="7938409"/>
          </a:xfrm>
          <a:custGeom>
            <a:avLst/>
            <a:gdLst/>
            <a:ahLst/>
            <a:cxnLst/>
            <a:rect l="l" t="t" r="r" b="b"/>
            <a:pathLst>
              <a:path w="10462111" h="6801038">
                <a:moveTo>
                  <a:pt x="0" y="0"/>
                </a:moveTo>
                <a:lnTo>
                  <a:pt x="10462111" y="0"/>
                </a:lnTo>
                <a:lnTo>
                  <a:pt x="10462111" y="6801039"/>
                </a:lnTo>
                <a:lnTo>
                  <a:pt x="0" y="6801039"/>
                </a:lnTo>
                <a:lnTo>
                  <a:pt x="0" y="0"/>
                </a:lnTo>
                <a:close/>
              </a:path>
            </a:pathLst>
          </a:custGeom>
          <a:blipFill>
            <a:blip r:embed="rId2"/>
            <a:stretch>
              <a:fillRect t="-1277" b="-1277"/>
            </a:stretch>
          </a:blipFill>
        </p:spPr>
      </p:sp>
      <p:sp>
        <p:nvSpPr>
          <p:cNvPr id="12" name="TextBox 12"/>
          <p:cNvSpPr txBox="1"/>
          <p:nvPr/>
        </p:nvSpPr>
        <p:spPr>
          <a:xfrm>
            <a:off x="328074" y="326790"/>
            <a:ext cx="8752791" cy="1023449"/>
          </a:xfrm>
          <a:prstGeom prst="rect">
            <a:avLst/>
          </a:prstGeom>
        </p:spPr>
        <p:txBody>
          <a:bodyPr lIns="0" tIns="0" rIns="0" bIns="0" rtlCol="0" anchor="t">
            <a:spAutoFit/>
          </a:bodyPr>
          <a:lstStyle/>
          <a:p>
            <a:pPr algn="l">
              <a:lnSpc>
                <a:spcPts val="8269"/>
              </a:lnSpc>
              <a:spcBef>
                <a:spcPct val="0"/>
              </a:spcBef>
            </a:pPr>
            <a:r>
              <a:rPr lang="en-US" sz="5906" dirty="0">
                <a:solidFill>
                  <a:srgbClr val="FFFFFF"/>
                </a:solidFill>
                <a:latin typeface="Bicubik"/>
                <a:ea typeface="Bicubik"/>
                <a:cs typeface="Bicubik"/>
                <a:sym typeface="Bicubik"/>
              </a:rPr>
              <a:t>USE CASE DIAGRAM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703" b="-1703"/>
            </a:stretch>
          </a:blipFill>
        </p:spPr>
      </p:sp>
      <p:grpSp>
        <p:nvGrpSpPr>
          <p:cNvPr id="3" name="Group 3"/>
          <p:cNvGrpSpPr/>
          <p:nvPr/>
        </p:nvGrpSpPr>
        <p:grpSpPr>
          <a:xfrm>
            <a:off x="18144623" y="8078534"/>
            <a:ext cx="143377" cy="1179766"/>
            <a:chOff x="0" y="0"/>
            <a:chExt cx="46272" cy="380749"/>
          </a:xfrm>
        </p:grpSpPr>
        <p:sp>
          <p:nvSpPr>
            <p:cNvPr id="4" name="Freeform 4"/>
            <p:cNvSpPr/>
            <p:nvPr/>
          </p:nvSpPr>
          <p:spPr>
            <a:xfrm>
              <a:off x="0" y="0"/>
              <a:ext cx="46272" cy="380749"/>
            </a:xfrm>
            <a:custGeom>
              <a:avLst/>
              <a:gdLst/>
              <a:ahLst/>
              <a:cxnLst/>
              <a:rect l="l" t="t" r="r" b="b"/>
              <a:pathLst>
                <a:path w="46272" h="380749">
                  <a:moveTo>
                    <a:pt x="0" y="0"/>
                  </a:moveTo>
                  <a:lnTo>
                    <a:pt x="46272" y="0"/>
                  </a:lnTo>
                  <a:lnTo>
                    <a:pt x="46272" y="380749"/>
                  </a:lnTo>
                  <a:lnTo>
                    <a:pt x="0" y="380749"/>
                  </a:lnTo>
                  <a:close/>
                </a:path>
              </a:pathLst>
            </a:custGeom>
            <a:gradFill rotWithShape="1">
              <a:gsLst>
                <a:gs pos="0">
                  <a:srgbClr val="6E009B">
                    <a:alpha val="100000"/>
                  </a:srgbClr>
                </a:gs>
                <a:gs pos="100000">
                  <a:srgbClr val="EB00FF">
                    <a:alpha val="100000"/>
                  </a:srgbClr>
                </a:gs>
              </a:gsLst>
              <a:lin ang="2700000"/>
            </a:gradFill>
          </p:spPr>
        </p:sp>
        <p:sp>
          <p:nvSpPr>
            <p:cNvPr id="5" name="TextBox 5"/>
            <p:cNvSpPr txBox="1"/>
            <p:nvPr/>
          </p:nvSpPr>
          <p:spPr>
            <a:xfrm>
              <a:off x="0" y="-38100"/>
              <a:ext cx="46272" cy="418849"/>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rot="-5400000">
            <a:off x="11020618" y="3248277"/>
            <a:ext cx="240808" cy="2470689"/>
          </a:xfrm>
          <a:custGeom>
            <a:avLst/>
            <a:gdLst/>
            <a:ahLst/>
            <a:cxnLst/>
            <a:rect l="l" t="t" r="r" b="b"/>
            <a:pathLst>
              <a:path w="240808" h="2470689">
                <a:moveTo>
                  <a:pt x="0" y="0"/>
                </a:moveTo>
                <a:lnTo>
                  <a:pt x="240808" y="0"/>
                </a:lnTo>
                <a:lnTo>
                  <a:pt x="240808" y="2470689"/>
                </a:lnTo>
                <a:lnTo>
                  <a:pt x="0" y="24706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447800" y="1300728"/>
            <a:ext cx="14097000" cy="7957571"/>
          </a:xfrm>
          <a:custGeom>
            <a:avLst/>
            <a:gdLst/>
            <a:ahLst/>
            <a:cxnLst/>
            <a:rect l="l" t="t" r="r" b="b"/>
            <a:pathLst>
              <a:path w="11971491" h="7573348">
                <a:moveTo>
                  <a:pt x="0" y="0"/>
                </a:moveTo>
                <a:lnTo>
                  <a:pt x="11971491" y="0"/>
                </a:lnTo>
                <a:lnTo>
                  <a:pt x="11971491" y="7573348"/>
                </a:lnTo>
                <a:lnTo>
                  <a:pt x="0" y="7573348"/>
                </a:lnTo>
                <a:lnTo>
                  <a:pt x="0" y="0"/>
                </a:lnTo>
                <a:close/>
              </a:path>
            </a:pathLst>
          </a:custGeom>
          <a:blipFill>
            <a:blip r:embed="rId5"/>
            <a:stretch>
              <a:fillRect l="-126" r="-1795" b="-7408"/>
            </a:stretch>
          </a:blipFill>
        </p:spPr>
      </p:sp>
      <p:sp>
        <p:nvSpPr>
          <p:cNvPr id="8" name="TextBox 8"/>
          <p:cNvSpPr txBox="1"/>
          <p:nvPr/>
        </p:nvSpPr>
        <p:spPr>
          <a:xfrm>
            <a:off x="4169043" y="17328"/>
            <a:ext cx="9949915" cy="1011372"/>
          </a:xfrm>
          <a:prstGeom prst="rect">
            <a:avLst/>
          </a:prstGeom>
        </p:spPr>
        <p:txBody>
          <a:bodyPr lIns="0" tIns="0" rIns="0" bIns="0" rtlCol="0" anchor="t">
            <a:spAutoFit/>
          </a:bodyPr>
          <a:lstStyle/>
          <a:p>
            <a:pPr algn="l">
              <a:lnSpc>
                <a:spcPts val="8158"/>
              </a:lnSpc>
              <a:spcBef>
                <a:spcPct val="0"/>
              </a:spcBef>
            </a:pPr>
            <a:r>
              <a:rPr lang="en-US" sz="5827" dirty="0">
                <a:solidFill>
                  <a:srgbClr val="FFFFFF"/>
                </a:solidFill>
                <a:latin typeface="Bicubik"/>
                <a:ea typeface="Bicubik"/>
                <a:cs typeface="Bicubik"/>
                <a:sym typeface="Bicubik"/>
              </a:rPr>
              <a:t>WORKFLOW DIAGRAM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0521"/>
        </a:solidFill>
        <a:effectLst/>
      </p:bgPr>
    </p:bg>
    <p:spTree>
      <p:nvGrpSpPr>
        <p:cNvPr id="1" name=""/>
        <p:cNvGrpSpPr/>
        <p:nvPr/>
      </p:nvGrpSpPr>
      <p:grpSpPr>
        <a:xfrm>
          <a:off x="0" y="0"/>
          <a:ext cx="0" cy="0"/>
          <a:chOff x="0" y="0"/>
          <a:chExt cx="0" cy="0"/>
        </a:xfrm>
      </p:grpSpPr>
      <p:grpSp>
        <p:nvGrpSpPr>
          <p:cNvPr id="2" name="Group 2"/>
          <p:cNvGrpSpPr/>
          <p:nvPr/>
        </p:nvGrpSpPr>
        <p:grpSpPr>
          <a:xfrm>
            <a:off x="17293116" y="565634"/>
            <a:ext cx="397367" cy="28996"/>
            <a:chOff x="0" y="0"/>
            <a:chExt cx="128243" cy="9358"/>
          </a:xfrm>
        </p:grpSpPr>
        <p:sp>
          <p:nvSpPr>
            <p:cNvPr id="3" name="Freeform 3"/>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E009B">
                    <a:alpha val="100000"/>
                  </a:srgbClr>
                </a:gs>
                <a:gs pos="100000">
                  <a:srgbClr val="EB00FF">
                    <a:alpha val="100000"/>
                  </a:srgbClr>
                </a:gs>
              </a:gsLst>
              <a:lin ang="0"/>
            </a:gradFill>
          </p:spPr>
        </p:sp>
        <p:sp>
          <p:nvSpPr>
            <p:cNvPr id="4" name="TextBox 4"/>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93116" y="657737"/>
            <a:ext cx="397367" cy="28996"/>
            <a:chOff x="0" y="0"/>
            <a:chExt cx="128243" cy="9358"/>
          </a:xfrm>
        </p:grpSpPr>
        <p:sp>
          <p:nvSpPr>
            <p:cNvPr id="6" name="Freeform 6"/>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E009B">
                    <a:alpha val="100000"/>
                  </a:srgbClr>
                </a:gs>
                <a:gs pos="100000">
                  <a:srgbClr val="EB00FF">
                    <a:alpha val="100000"/>
                  </a:srgbClr>
                </a:gs>
              </a:gsLst>
              <a:lin ang="0"/>
            </a:gradFill>
          </p:spPr>
        </p:sp>
        <p:sp>
          <p:nvSpPr>
            <p:cNvPr id="7" name="TextBox 7"/>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8144623" y="8078534"/>
            <a:ext cx="143377" cy="1179766"/>
            <a:chOff x="0" y="0"/>
            <a:chExt cx="46272" cy="380749"/>
          </a:xfrm>
        </p:grpSpPr>
        <p:sp>
          <p:nvSpPr>
            <p:cNvPr id="9" name="Freeform 9"/>
            <p:cNvSpPr/>
            <p:nvPr/>
          </p:nvSpPr>
          <p:spPr>
            <a:xfrm>
              <a:off x="0" y="0"/>
              <a:ext cx="46272" cy="380749"/>
            </a:xfrm>
            <a:custGeom>
              <a:avLst/>
              <a:gdLst/>
              <a:ahLst/>
              <a:cxnLst/>
              <a:rect l="l" t="t" r="r" b="b"/>
              <a:pathLst>
                <a:path w="46272" h="380749">
                  <a:moveTo>
                    <a:pt x="0" y="0"/>
                  </a:moveTo>
                  <a:lnTo>
                    <a:pt x="46272" y="0"/>
                  </a:lnTo>
                  <a:lnTo>
                    <a:pt x="46272" y="380749"/>
                  </a:lnTo>
                  <a:lnTo>
                    <a:pt x="0" y="380749"/>
                  </a:lnTo>
                  <a:close/>
                </a:path>
              </a:pathLst>
            </a:custGeom>
            <a:gradFill rotWithShape="1">
              <a:gsLst>
                <a:gs pos="0">
                  <a:srgbClr val="6E009B">
                    <a:alpha val="100000"/>
                  </a:srgbClr>
                </a:gs>
                <a:gs pos="100000">
                  <a:srgbClr val="EB00FF">
                    <a:alpha val="100000"/>
                  </a:srgbClr>
                </a:gs>
              </a:gsLst>
              <a:lin ang="2700000"/>
            </a:gradFill>
          </p:spPr>
        </p:sp>
        <p:sp>
          <p:nvSpPr>
            <p:cNvPr id="10" name="TextBox 10"/>
            <p:cNvSpPr txBox="1"/>
            <p:nvPr/>
          </p:nvSpPr>
          <p:spPr>
            <a:xfrm>
              <a:off x="0" y="-38100"/>
              <a:ext cx="46272" cy="418849"/>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981200" y="1793433"/>
            <a:ext cx="13944599" cy="7473230"/>
          </a:xfrm>
          <a:custGeom>
            <a:avLst/>
            <a:gdLst/>
            <a:ahLst/>
            <a:cxnLst/>
            <a:rect l="l" t="t" r="r" b="b"/>
            <a:pathLst>
              <a:path w="10075289" h="6716860">
                <a:moveTo>
                  <a:pt x="0" y="0"/>
                </a:moveTo>
                <a:lnTo>
                  <a:pt x="10075290" y="0"/>
                </a:lnTo>
                <a:lnTo>
                  <a:pt x="10075290" y="6716860"/>
                </a:lnTo>
                <a:lnTo>
                  <a:pt x="0" y="6716860"/>
                </a:lnTo>
                <a:lnTo>
                  <a:pt x="0" y="0"/>
                </a:lnTo>
                <a:close/>
              </a:path>
            </a:pathLst>
          </a:custGeom>
          <a:blipFill>
            <a:blip r:embed="rId2"/>
            <a:stretch>
              <a:fillRect/>
            </a:stretch>
          </a:blipFill>
        </p:spPr>
      </p:sp>
      <p:sp>
        <p:nvSpPr>
          <p:cNvPr id="12" name="TextBox 12"/>
          <p:cNvSpPr txBox="1"/>
          <p:nvPr/>
        </p:nvSpPr>
        <p:spPr>
          <a:xfrm>
            <a:off x="5992916" y="441809"/>
            <a:ext cx="6302167" cy="1011372"/>
          </a:xfrm>
          <a:prstGeom prst="rect">
            <a:avLst/>
          </a:prstGeom>
        </p:spPr>
        <p:txBody>
          <a:bodyPr lIns="0" tIns="0" rIns="0" bIns="0" rtlCol="0" anchor="t">
            <a:spAutoFit/>
          </a:bodyPr>
          <a:lstStyle/>
          <a:p>
            <a:pPr algn="l">
              <a:lnSpc>
                <a:spcPts val="8158"/>
              </a:lnSpc>
              <a:spcBef>
                <a:spcPct val="0"/>
              </a:spcBef>
            </a:pPr>
            <a:r>
              <a:rPr lang="en-US" sz="5827" dirty="0">
                <a:solidFill>
                  <a:srgbClr val="FFFFFF"/>
                </a:solidFill>
                <a:latin typeface="Bicubik"/>
                <a:ea typeface="Bicubik"/>
                <a:cs typeface="Bicubik"/>
                <a:sym typeface="Bicubik"/>
              </a:rPr>
              <a:t>MODULES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703" b="-1703"/>
            </a:stretch>
          </a:blipFill>
        </p:spPr>
      </p:sp>
      <p:grpSp>
        <p:nvGrpSpPr>
          <p:cNvPr id="3" name="Group 3"/>
          <p:cNvGrpSpPr/>
          <p:nvPr/>
        </p:nvGrpSpPr>
        <p:grpSpPr>
          <a:xfrm>
            <a:off x="17293116" y="565634"/>
            <a:ext cx="397367" cy="28996"/>
            <a:chOff x="0" y="0"/>
            <a:chExt cx="128243" cy="9358"/>
          </a:xfrm>
        </p:grpSpPr>
        <p:sp>
          <p:nvSpPr>
            <p:cNvPr id="4" name="Freeform 4"/>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E009B">
                    <a:alpha val="100000"/>
                  </a:srgbClr>
                </a:gs>
                <a:gs pos="100000">
                  <a:srgbClr val="EB00FF">
                    <a:alpha val="100000"/>
                  </a:srgbClr>
                </a:gs>
              </a:gsLst>
              <a:lin ang="0"/>
            </a:gradFill>
          </p:spPr>
        </p:sp>
        <p:sp>
          <p:nvSpPr>
            <p:cNvPr id="5" name="TextBox 5"/>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7293116" y="657737"/>
            <a:ext cx="397367" cy="28996"/>
            <a:chOff x="0" y="0"/>
            <a:chExt cx="128243" cy="9358"/>
          </a:xfrm>
        </p:grpSpPr>
        <p:sp>
          <p:nvSpPr>
            <p:cNvPr id="7" name="Freeform 7"/>
            <p:cNvSpPr/>
            <p:nvPr/>
          </p:nvSpPr>
          <p:spPr>
            <a:xfrm>
              <a:off x="0" y="0"/>
              <a:ext cx="128243" cy="9358"/>
            </a:xfrm>
            <a:custGeom>
              <a:avLst/>
              <a:gdLst/>
              <a:ahLst/>
              <a:cxnLst/>
              <a:rect l="l" t="t" r="r" b="b"/>
              <a:pathLst>
                <a:path w="128243" h="9358">
                  <a:moveTo>
                    <a:pt x="0" y="0"/>
                  </a:moveTo>
                  <a:lnTo>
                    <a:pt x="128243" y="0"/>
                  </a:lnTo>
                  <a:lnTo>
                    <a:pt x="128243" y="9358"/>
                  </a:lnTo>
                  <a:lnTo>
                    <a:pt x="0" y="9358"/>
                  </a:lnTo>
                  <a:close/>
                </a:path>
              </a:pathLst>
            </a:custGeom>
            <a:gradFill rotWithShape="1">
              <a:gsLst>
                <a:gs pos="0">
                  <a:srgbClr val="6E009B">
                    <a:alpha val="100000"/>
                  </a:srgbClr>
                </a:gs>
                <a:gs pos="100000">
                  <a:srgbClr val="EB00FF">
                    <a:alpha val="100000"/>
                  </a:srgbClr>
                </a:gs>
              </a:gsLst>
              <a:lin ang="0"/>
            </a:gradFill>
          </p:spPr>
        </p:sp>
        <p:sp>
          <p:nvSpPr>
            <p:cNvPr id="8" name="TextBox 8"/>
            <p:cNvSpPr txBox="1"/>
            <p:nvPr/>
          </p:nvSpPr>
          <p:spPr>
            <a:xfrm>
              <a:off x="0" y="-38100"/>
              <a:ext cx="128243" cy="47458"/>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8144623" y="8078534"/>
            <a:ext cx="143377" cy="1179766"/>
            <a:chOff x="0" y="0"/>
            <a:chExt cx="46272" cy="380749"/>
          </a:xfrm>
        </p:grpSpPr>
        <p:sp>
          <p:nvSpPr>
            <p:cNvPr id="10" name="Freeform 10"/>
            <p:cNvSpPr/>
            <p:nvPr/>
          </p:nvSpPr>
          <p:spPr>
            <a:xfrm>
              <a:off x="0" y="0"/>
              <a:ext cx="46272" cy="380749"/>
            </a:xfrm>
            <a:custGeom>
              <a:avLst/>
              <a:gdLst/>
              <a:ahLst/>
              <a:cxnLst/>
              <a:rect l="l" t="t" r="r" b="b"/>
              <a:pathLst>
                <a:path w="46272" h="380749">
                  <a:moveTo>
                    <a:pt x="0" y="0"/>
                  </a:moveTo>
                  <a:lnTo>
                    <a:pt x="46272" y="0"/>
                  </a:lnTo>
                  <a:lnTo>
                    <a:pt x="46272" y="380749"/>
                  </a:lnTo>
                  <a:lnTo>
                    <a:pt x="0" y="380749"/>
                  </a:lnTo>
                  <a:close/>
                </a:path>
              </a:pathLst>
            </a:custGeom>
            <a:gradFill rotWithShape="1">
              <a:gsLst>
                <a:gs pos="0">
                  <a:srgbClr val="6E009B">
                    <a:alpha val="100000"/>
                  </a:srgbClr>
                </a:gs>
                <a:gs pos="100000">
                  <a:srgbClr val="EB00FF">
                    <a:alpha val="100000"/>
                  </a:srgbClr>
                </a:gs>
              </a:gsLst>
              <a:lin ang="2700000"/>
            </a:gradFill>
          </p:spPr>
        </p:sp>
        <p:sp>
          <p:nvSpPr>
            <p:cNvPr id="11" name="TextBox 11"/>
            <p:cNvSpPr txBox="1"/>
            <p:nvPr/>
          </p:nvSpPr>
          <p:spPr>
            <a:xfrm>
              <a:off x="0" y="-38100"/>
              <a:ext cx="46272" cy="418849"/>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2819400" y="1453180"/>
            <a:ext cx="12725399" cy="8033719"/>
          </a:xfrm>
          <a:custGeom>
            <a:avLst/>
            <a:gdLst/>
            <a:ahLst/>
            <a:cxnLst/>
            <a:rect l="l" t="t" r="r" b="b"/>
            <a:pathLst>
              <a:path w="11307063" h="7369430">
                <a:moveTo>
                  <a:pt x="0" y="0"/>
                </a:moveTo>
                <a:lnTo>
                  <a:pt x="11307063" y="0"/>
                </a:lnTo>
                <a:lnTo>
                  <a:pt x="11307063" y="7369430"/>
                </a:lnTo>
                <a:lnTo>
                  <a:pt x="0" y="7369430"/>
                </a:lnTo>
                <a:lnTo>
                  <a:pt x="0" y="0"/>
                </a:lnTo>
                <a:close/>
              </a:path>
            </a:pathLst>
          </a:custGeom>
          <a:blipFill>
            <a:blip r:embed="rId3"/>
            <a:stretch>
              <a:fillRect t="-1143" b="-1143"/>
            </a:stretch>
          </a:blipFill>
        </p:spPr>
      </p:sp>
      <p:sp>
        <p:nvSpPr>
          <p:cNvPr id="13" name="TextBox 13"/>
          <p:cNvSpPr txBox="1"/>
          <p:nvPr/>
        </p:nvSpPr>
        <p:spPr>
          <a:xfrm>
            <a:off x="3226462" y="119135"/>
            <a:ext cx="11773789" cy="1011372"/>
          </a:xfrm>
          <a:prstGeom prst="rect">
            <a:avLst/>
          </a:prstGeom>
        </p:spPr>
        <p:txBody>
          <a:bodyPr lIns="0" tIns="0" rIns="0" bIns="0" rtlCol="0" anchor="t">
            <a:spAutoFit/>
          </a:bodyPr>
          <a:lstStyle/>
          <a:p>
            <a:pPr algn="l">
              <a:lnSpc>
                <a:spcPts val="8158"/>
              </a:lnSpc>
              <a:spcBef>
                <a:spcPct val="0"/>
              </a:spcBef>
            </a:pPr>
            <a:r>
              <a:rPr lang="en-US" sz="5827" dirty="0">
                <a:solidFill>
                  <a:srgbClr val="FFFFFF"/>
                </a:solidFill>
                <a:latin typeface="Bicubik"/>
                <a:ea typeface="Bicubik"/>
                <a:cs typeface="Bicubik"/>
                <a:sym typeface="Bicubik"/>
              </a:rPr>
              <a:t>SYSTEM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30399658-9C58-3DE5-9FE5-D17104B0A346}"/>
              </a:ext>
            </a:extLst>
          </p:cNvPr>
          <p:cNvSpPr/>
          <p:nvPr/>
        </p:nvSpPr>
        <p:spPr>
          <a:xfrm>
            <a:off x="0" y="1208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703" b="-1703"/>
            </a:stretch>
          </a:blipFill>
        </p:spPr>
        <p:txBody>
          <a:bodyPr/>
          <a:lstStyle/>
          <a:p>
            <a:pPr>
              <a:lnSpc>
                <a:spcPts val="8158"/>
              </a:lnSpc>
              <a:spcBef>
                <a:spcPct val="0"/>
              </a:spcBef>
            </a:pPr>
            <a:r>
              <a:rPr lang="en-US" sz="5830" dirty="0">
                <a:solidFill>
                  <a:srgbClr val="FFFFFF"/>
                </a:solidFill>
                <a:latin typeface="Bicubik"/>
                <a:ea typeface="Bicubik"/>
                <a:cs typeface="Bicubik"/>
                <a:sym typeface="Bicubik"/>
              </a:rPr>
              <a:t>                   TECH STACK</a:t>
            </a:r>
          </a:p>
        </p:txBody>
      </p:sp>
      <p:pic>
        <p:nvPicPr>
          <p:cNvPr id="4" name="Picture 3">
            <a:extLst>
              <a:ext uri="{FF2B5EF4-FFF2-40B4-BE49-F238E27FC236}">
                <a16:creationId xmlns:a16="http://schemas.microsoft.com/office/drawing/2014/main" id="{952C178E-ECC5-FB6E-F737-2E40907195FE}"/>
              </a:ext>
            </a:extLst>
          </p:cNvPr>
          <p:cNvPicPr>
            <a:picLocks noChangeAspect="1"/>
          </p:cNvPicPr>
          <p:nvPr/>
        </p:nvPicPr>
        <p:blipFill>
          <a:blip r:embed="rId3">
            <a:extLst>
              <a:ext uri="{28A0092B-C50C-407E-A947-70E740481C1C}">
                <a14:useLocalDpi xmlns:a14="http://schemas.microsoft.com/office/drawing/2010/main" val="0"/>
              </a:ext>
            </a:extLst>
          </a:blip>
          <a:srcRect l="-1" r="49" b="9136"/>
          <a:stretch>
            <a:fillRect/>
          </a:stretch>
        </p:blipFill>
        <p:spPr>
          <a:xfrm>
            <a:off x="2895600" y="952500"/>
            <a:ext cx="11734800" cy="9123218"/>
          </a:xfrm>
          <a:prstGeom prst="rect">
            <a:avLst/>
          </a:prstGeom>
        </p:spPr>
      </p:pic>
    </p:spTree>
    <p:extLst>
      <p:ext uri="{BB962C8B-B14F-4D97-AF65-F5344CB8AC3E}">
        <p14:creationId xmlns:p14="http://schemas.microsoft.com/office/powerpoint/2010/main" val="1803714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244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703" b="-1703"/>
            </a:stretch>
          </a:blipFill>
        </p:spPr>
        <p:txBody>
          <a:bodyPr/>
          <a:lstStyle/>
          <a:p>
            <a:endParaRPr lang="en-IN" dirty="0"/>
          </a:p>
        </p:txBody>
      </p:sp>
      <p:sp>
        <p:nvSpPr>
          <p:cNvPr id="9" name="Freeform 9"/>
          <p:cNvSpPr/>
          <p:nvPr/>
        </p:nvSpPr>
        <p:spPr>
          <a:xfrm rot="-5400000">
            <a:off x="8912009" y="4326276"/>
            <a:ext cx="463982" cy="4760457"/>
          </a:xfrm>
          <a:custGeom>
            <a:avLst/>
            <a:gdLst/>
            <a:ahLst/>
            <a:cxnLst/>
            <a:rect l="l" t="t" r="r" b="b"/>
            <a:pathLst>
              <a:path w="463982" h="4760457">
                <a:moveTo>
                  <a:pt x="0" y="0"/>
                </a:moveTo>
                <a:lnTo>
                  <a:pt x="463982" y="0"/>
                </a:lnTo>
                <a:lnTo>
                  <a:pt x="463982" y="4760458"/>
                </a:lnTo>
                <a:lnTo>
                  <a:pt x="0" y="47604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914400" y="2933700"/>
            <a:ext cx="16383000" cy="5283113"/>
          </a:xfrm>
          <a:prstGeom prst="rect">
            <a:avLst/>
          </a:prstGeom>
        </p:spPr>
        <p:txBody>
          <a:bodyPr wrap="square" lIns="0" tIns="0" rIns="0" bIns="0" rtlCol="0" anchor="t">
            <a:spAutoFit/>
          </a:bodyPr>
          <a:lstStyle/>
          <a:p>
            <a:pPr algn="ctr">
              <a:lnSpc>
                <a:spcPts val="21011"/>
              </a:lnSpc>
              <a:spcBef>
                <a:spcPct val="0"/>
              </a:spcBef>
            </a:pPr>
            <a:r>
              <a:rPr lang="en-US" sz="6000" dirty="0">
                <a:solidFill>
                  <a:srgbClr val="FFFFFF"/>
                </a:solidFill>
                <a:latin typeface="Bicubik"/>
                <a:ea typeface="Bicubik"/>
                <a:cs typeface="Bicubik"/>
                <a:sym typeface="Bicubik"/>
              </a:rPr>
              <a:t>THANK YOU</a:t>
            </a:r>
          </a:p>
          <a:p>
            <a:pPr algn="ctr">
              <a:lnSpc>
                <a:spcPts val="21011"/>
              </a:lnSpc>
              <a:spcBef>
                <a:spcPct val="0"/>
              </a:spcBef>
            </a:pPr>
            <a:endParaRPr lang="en-US" sz="15008" dirty="0">
              <a:solidFill>
                <a:srgbClr val="FFFFFF"/>
              </a:solidFill>
              <a:latin typeface="Bicubik"/>
              <a:ea typeface="Bicubik"/>
              <a:cs typeface="Bicubik"/>
              <a:sym typeface="Bicubik"/>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TotalTime>
  <Words>206</Words>
  <Application>Microsoft Office PowerPoint</Application>
  <PresentationFormat>Custom</PresentationFormat>
  <Paragraphs>15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Open Sans</vt:lpstr>
      <vt:lpstr>Bicubik</vt:lpstr>
      <vt:lpstr>Arial</vt:lpstr>
      <vt:lpstr>Garet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Skillforge Ai driven adaptive learning and exam generator</dc:title>
  <dc:creator>shruthi j</dc:creator>
  <cp:lastModifiedBy>shruthi j</cp:lastModifiedBy>
  <cp:revision>5</cp:revision>
  <dcterms:created xsi:type="dcterms:W3CDTF">2006-08-16T00:00:00Z</dcterms:created>
  <dcterms:modified xsi:type="dcterms:W3CDTF">2026-02-25T14:46:40Z</dcterms:modified>
  <dc:identifier>DAHBMJX6XZw</dc:identifier>
</cp:coreProperties>
</file>